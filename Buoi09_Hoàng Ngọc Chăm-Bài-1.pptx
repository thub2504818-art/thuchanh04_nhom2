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4" r:id="rId7"/>
    <p:sldId id="270" r:id="rId8"/>
    <p:sldId id="26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0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06/02/2026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301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000" b="1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BỐ CỤC MỘT BÀI THUYẾT TRÌNH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3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ThS</a:t>
            </a:r>
            <a:r>
              <a:rPr lang="en-US" dirty="0"/>
              <a:t>. </a:t>
            </a:r>
            <a:r>
              <a:rPr lang="en-US" dirty="0" err="1"/>
              <a:t>Họ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Tên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239000" y="5735637"/>
            <a:ext cx="4114800" cy="365125"/>
          </a:xfrm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 err="1"/>
              <a:t>Trích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Tủ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khoa </a:t>
            </a:r>
            <a:r>
              <a:rPr lang="en-US" dirty="0" err="1"/>
              <a:t>học</a:t>
            </a:r>
            <a:r>
              <a:rPr lang="en-US" dirty="0"/>
              <a:t> VLOS</a:t>
            </a:r>
            <a:endParaRPr lang="en-US" b="1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/>
            </a:lvl1pPr>
          </a:lstStyle>
          <a:p>
            <a:r>
              <a:rPr lang="en-US" dirty="0"/>
              <a:t>1</a:t>
            </a:r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6" presetClass="entr" presetSubtype="2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arn(inVertical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" grpId="0"/>
    </p:bldLst>
  </p:timing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buFont typeface="Arial" panose="020B0604020202020204" pitchFamily="34" charset="0"/>
              <a:buChar char="•"/>
              <a:defRPr sz="3200"/>
            </a:lvl3pPr>
          </a:lstStyle>
          <a:p>
            <a:pPr lvl="0"/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mở</a:t>
            </a:r>
            <a:r>
              <a:rPr lang="en-US" dirty="0"/>
              <a:t> </a:t>
            </a:r>
            <a:r>
              <a:rPr lang="en-US" dirty="0" err="1"/>
              <a:t>đầu</a:t>
            </a:r>
            <a:endParaRPr lang="en-US" dirty="0"/>
          </a:p>
          <a:p>
            <a:pPr lvl="1"/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đạt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đích</a:t>
            </a:r>
            <a:endParaRPr lang="en-US" dirty="0"/>
          </a:p>
          <a:p>
            <a:pPr lvl="0"/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chính</a:t>
            </a:r>
            <a:endParaRPr lang="en-US" dirty="0"/>
          </a:p>
          <a:p>
            <a:pPr lvl="1"/>
            <a:r>
              <a:rPr lang="en-US" dirty="0" err="1"/>
              <a:t>Đưa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, ý </a:t>
            </a:r>
            <a:r>
              <a:rPr lang="en-US" dirty="0" err="1"/>
              <a:t>kiến</a:t>
            </a:r>
            <a:endParaRPr lang="en-US" dirty="0"/>
          </a:p>
          <a:p>
            <a:pPr lvl="0"/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kết</a:t>
            </a:r>
            <a:endParaRPr lang="en-US" dirty="0"/>
          </a:p>
          <a:p>
            <a:pPr lvl="1"/>
            <a:r>
              <a:rPr lang="en-US" dirty="0" err="1"/>
              <a:t>Tóm</a:t>
            </a:r>
            <a:r>
              <a:rPr lang="en-US" dirty="0"/>
              <a:t> </a:t>
            </a:r>
            <a:r>
              <a:rPr lang="en-US" dirty="0" err="1"/>
              <a:t>tắt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bày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43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367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98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498" tmFilter="0, 0; 0.125,0.2665; 0.25,0.4; 0.375,0.465; 0.5,0.5;  0.625,0.535; 0.75,0.6; 0.875,0.7335; 1,1">
                                          <p:stCondLst>
                                            <p:cond delay="4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49" tmFilter="0, 0; 0.125,0.2665; 0.25,0.4; 0.375,0.465; 0.5,0.5;  0.625,0.535; 0.75,0.6; 0.875,0.7335; 1,1">
                                          <p:stCondLst>
                                            <p:cond delay="993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23" tmFilter="0, 0; 0.125,0.2665; 0.25,0.4; 0.375,0.465; 0.5,0.5;  0.625,0.535; 0.75,0.6; 0.875,0.7335; 1,1">
                                          <p:stCondLst>
                                            <p:cond delay="12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0">
                                          <p:stCondLst>
                                            <p:cond delay="487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24" decel="50000">
                                          <p:stCondLst>
                                            <p:cond delay="507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0">
                                          <p:stCondLst>
                                            <p:cond delay="98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24" decel="50000">
                                          <p:stCondLst>
                                            <p:cond delay="100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0">
                                          <p:stCondLst>
                                            <p:cond delay="1231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24" decel="50000">
                                          <p:stCondLst>
                                            <p:cond delay="1251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0">
                                          <p:stCondLst>
                                            <p:cond delay="13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24" decel="50000">
                                          <p:stCondLst>
                                            <p:cond delay="13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>
        <p:tmplLst>
          <p:tmpl lvl="1">
            <p:tnLst>
              <p:par>
                <p:cTn presetID="2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688334"/>
            <a:ext cx="10515600" cy="1130739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mở</a:t>
            </a:r>
            <a:r>
              <a:rPr lang="en-US" dirty="0"/>
              <a:t> </a:t>
            </a:r>
            <a:r>
              <a:rPr lang="en-US" dirty="0" err="1"/>
              <a:t>đầu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8200" y="1911417"/>
            <a:ext cx="10515600" cy="4258249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•"/>
              <a:defRPr sz="32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Font typeface="Times New Roman" panose="02020603050405020304" pitchFamily="18" charset="0"/>
              <a:buChar char="-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Thu </a:t>
            </a:r>
            <a:r>
              <a:rPr lang="en-US" dirty="0" err="1"/>
              <a:t>hút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chú</a:t>
            </a:r>
            <a:r>
              <a:rPr lang="en-US" dirty="0"/>
              <a:t> ý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nghe</a:t>
            </a:r>
            <a:endParaRPr lang="en-US" dirty="0"/>
          </a:p>
          <a:p>
            <a:pPr lvl="1"/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đoạn</a:t>
            </a:r>
            <a:r>
              <a:rPr lang="en-US" dirty="0"/>
              <a:t> </a:t>
            </a:r>
            <a:r>
              <a:rPr lang="en-US" dirty="0" err="1"/>
              <a:t>trích</a:t>
            </a:r>
            <a:r>
              <a:rPr lang="en-US" dirty="0"/>
              <a:t> </a:t>
            </a:r>
            <a:r>
              <a:rPr lang="en-US" dirty="0" err="1"/>
              <a:t>dẫn</a:t>
            </a:r>
            <a:endParaRPr lang="en-US" dirty="0"/>
          </a:p>
          <a:p>
            <a:pPr lvl="1"/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hỏi</a:t>
            </a:r>
            <a:endParaRPr lang="en-US" dirty="0"/>
          </a:p>
          <a:p>
            <a:pPr lvl="1"/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lời</a:t>
            </a:r>
            <a:r>
              <a:rPr lang="en-US" dirty="0"/>
              <a:t> </a:t>
            </a:r>
            <a:r>
              <a:rPr lang="en-US" dirty="0" err="1"/>
              <a:t>hứa</a:t>
            </a:r>
            <a:endParaRPr lang="en-US" dirty="0"/>
          </a:p>
          <a:p>
            <a:pPr lvl="1"/>
            <a:r>
              <a:rPr lang="en-US" dirty="0" err="1"/>
              <a:t>Thậm</a:t>
            </a:r>
            <a:r>
              <a:rPr lang="en-US" dirty="0"/>
              <a:t> </a:t>
            </a:r>
            <a:r>
              <a:rPr lang="en-US" dirty="0" err="1"/>
              <a:t>chí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mọi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endParaRPr lang="en-US" dirty="0"/>
          </a:p>
          <a:p>
            <a:pPr lvl="0"/>
            <a:r>
              <a:rPr lang="en-US" dirty="0" err="1"/>
              <a:t>Tóm</a:t>
            </a:r>
            <a:r>
              <a:rPr lang="en-US" dirty="0"/>
              <a:t> </a:t>
            </a:r>
            <a:r>
              <a:rPr lang="en-US" dirty="0" err="1"/>
              <a:t>lược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quan</a:t>
            </a:r>
            <a:endParaRPr lang="en-US" dirty="0"/>
          </a:p>
          <a:p>
            <a:pPr lvl="1"/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bày</a:t>
            </a:r>
            <a:endParaRPr lang="en-US" dirty="0"/>
          </a:p>
          <a:p>
            <a:pPr lvl="1"/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nghe</a:t>
            </a:r>
            <a:r>
              <a:rPr lang="en-US" dirty="0"/>
              <a:t>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rõ</a:t>
            </a:r>
            <a:endParaRPr lang="en-US" dirty="0"/>
          </a:p>
          <a:p>
            <a:pPr lvl="2"/>
            <a:endParaRPr lang="en-US" dirty="0"/>
          </a:p>
          <a:p>
            <a:pPr lvl="3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1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1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1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1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>
        <p:tmplLst>
          <p:tmpl lvl="1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16" presetClass="entr" presetSubtype="2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arn(inVertical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6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circle(in)">
                      <p:cBhvr>
                        <p:cTn dur="20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6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circle(in)">
                      <p:cBhvr>
                        <p:cTn dur="20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7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941961" y="826851"/>
            <a:ext cx="10411839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sz="3200" dirty="0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sz="3200" dirty="0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sz="3200" dirty="0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trích</a:t>
            </a:r>
            <a:r>
              <a:rPr lang="en-US" sz="3200" dirty="0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sz="3200" dirty="0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3200" dirty="0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sz="3200" dirty="0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thiệu</a:t>
            </a:r>
            <a:endParaRPr lang="en-US" sz="3200" dirty="0">
              <a:solidFill>
                <a:srgbClr val="9966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Ta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trích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lợi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ích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ngành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tin</a:t>
            </a:r>
          </a:p>
          <a:p>
            <a:pPr marL="914400" lvl="2" indent="0">
              <a:buFont typeface="Arial" panose="020B0604020202020204" pitchFamily="34" charset="0"/>
              <a:buNone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“Hằng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luôn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tầm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trọng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nó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sống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Các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doanh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nghiệp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nhật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giỏi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Ngành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CNTT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coi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lĩnh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vực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trở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nên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hữu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ích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muốn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nghiệp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ngành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Vậy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lợi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ích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ngành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CNTT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gì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?”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688334"/>
            <a:ext cx="10515600" cy="1130739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chính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8200" y="1911417"/>
            <a:ext cx="10515600" cy="4258249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•"/>
              <a:defRPr sz="32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Font typeface="Times New Roman" panose="02020603050405020304" pitchFamily="18" charset="0"/>
              <a:buChar char="-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Font typeface="Times New Roman" panose="02020603050405020304" pitchFamily="18" charset="0"/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</a:t>
            </a:r>
          </a:p>
          <a:p>
            <a:pPr lvl="1"/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quyết</a:t>
            </a:r>
            <a:r>
              <a:rPr lang="en-US" dirty="0"/>
              <a:t>,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việc</a:t>
            </a:r>
            <a:endParaRPr lang="en-US" dirty="0"/>
          </a:p>
          <a:p>
            <a:pPr lvl="1"/>
            <a:r>
              <a:rPr lang="en-US" dirty="0"/>
              <a:t>Ý </a:t>
            </a:r>
            <a:r>
              <a:rPr lang="en-US" dirty="0" err="1"/>
              <a:t>tưởng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pháp</a:t>
            </a:r>
            <a:endParaRPr lang="en-US" dirty="0"/>
          </a:p>
          <a:p>
            <a:pPr lvl="1"/>
            <a:r>
              <a:rPr lang="en-US" dirty="0"/>
              <a:t>Cung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chứng</a:t>
            </a:r>
            <a:r>
              <a:rPr lang="en-US" dirty="0"/>
              <a:t> </a:t>
            </a:r>
            <a:r>
              <a:rPr lang="en-US" dirty="0" err="1"/>
              <a:t>minh</a:t>
            </a:r>
            <a:endParaRPr lang="en-US" dirty="0"/>
          </a:p>
          <a:p>
            <a:pPr lvl="1"/>
            <a:r>
              <a:rPr lang="en-US" dirty="0"/>
              <a:t>Lợi </a:t>
            </a:r>
            <a:r>
              <a:rPr lang="en-US" dirty="0" err="1"/>
              <a:t>ích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pháp</a:t>
            </a:r>
            <a:endParaRPr lang="en-US" dirty="0"/>
          </a:p>
          <a:p>
            <a:pPr lvl="1"/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/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cụ</a:t>
            </a:r>
            <a:r>
              <a:rPr lang="en-US" dirty="0"/>
              <a:t> </a:t>
            </a:r>
            <a:r>
              <a:rPr lang="en-US" dirty="0" err="1"/>
              <a:t>thể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2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2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2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2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2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2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2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2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2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2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25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25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25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>
        <p:tmplLst>
          <p:tmpl lvl="1">
            <p:tnLst>
              <p:par>
                <p:cTn presetID="3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style.rotation</p:attrName>
                        </p:attrNameLst>
                      </p:cBhvr>
                      <p:tavLst>
                        <p:tav tm="0">
                          <p:val>
                            <p:fltVal val="90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53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250" fill="hold"/>
                        <p:tgtEl>
                          <p:spTgt spid="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250" fill="hold"/>
                        <p:tgtEl>
                          <p:spTgt spid="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25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688334"/>
            <a:ext cx="10515600" cy="1130739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kết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8200" y="1911417"/>
            <a:ext cx="10515600" cy="4258249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•"/>
              <a:defRPr sz="32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Font typeface="Times New Roman" panose="02020603050405020304" pitchFamily="18" charset="0"/>
              <a:buChar char="-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Font typeface="Times New Roman" panose="02020603050405020304" pitchFamily="18" charset="0"/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 err="1"/>
              <a:t>Tóm</a:t>
            </a:r>
            <a:r>
              <a:rPr lang="en-US" dirty="0"/>
              <a:t> </a:t>
            </a:r>
            <a:r>
              <a:rPr lang="en-US" dirty="0" err="1"/>
              <a:t>tắt</a:t>
            </a:r>
            <a:endParaRPr lang="en-US" dirty="0"/>
          </a:p>
          <a:p>
            <a:pPr lvl="0"/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luận</a:t>
            </a:r>
            <a:r>
              <a:rPr lang="en-US" dirty="0"/>
              <a:t> </a:t>
            </a:r>
            <a:r>
              <a:rPr lang="en-US" dirty="0" err="1"/>
              <a:t>cuối</a:t>
            </a:r>
            <a:r>
              <a:rPr lang="en-US" dirty="0"/>
              <a:t> </a:t>
            </a:r>
            <a:r>
              <a:rPr lang="en-US" dirty="0" err="1"/>
              <a:t>cùng</a:t>
            </a:r>
            <a:endParaRPr lang="en-US" dirty="0"/>
          </a:p>
          <a:p>
            <a:pPr lvl="1"/>
            <a:r>
              <a:rPr lang="en-US" dirty="0"/>
              <a:t>Liệu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 </a:t>
            </a:r>
            <a:r>
              <a:rPr lang="en-US" dirty="0" err="1"/>
              <a:t>bạn</a:t>
            </a:r>
            <a:r>
              <a:rPr lang="en-US" dirty="0"/>
              <a:t> </a:t>
            </a:r>
            <a:r>
              <a:rPr lang="en-US" dirty="0" err="1"/>
              <a:t>muốn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nghe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?</a:t>
            </a:r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5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1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>
        <p:tmplLst>
          <p:tmpl lvl="1">
            <p:tnLst>
              <p:par>
                <p:cTn presetID="2" presetClass="entr" presetSubtype="1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125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5588203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Cảm</a:t>
            </a:r>
            <a:r>
              <a:rPr lang="en-US" dirty="0"/>
              <a:t> </a:t>
            </a:r>
            <a:r>
              <a:rPr lang="en-US" dirty="0" err="1"/>
              <a:t>ơn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chú</a:t>
            </a:r>
            <a:r>
              <a:rPr lang="en-US" dirty="0"/>
              <a:t> ý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quý</a:t>
            </a:r>
            <a:r>
              <a:rPr lang="en-US" dirty="0"/>
              <a:t> </a:t>
            </a:r>
            <a:r>
              <a:rPr lang="en-US" dirty="0" err="1"/>
              <a:t>vị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6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7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941961" y="826851"/>
            <a:ext cx="10411839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sz="3200" dirty="0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sz="3200" dirty="0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sz="3200" dirty="0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trích</a:t>
            </a:r>
            <a:r>
              <a:rPr lang="en-US" sz="3200" dirty="0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sz="3200" dirty="0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3200" dirty="0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sz="3200" dirty="0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thiệu</a:t>
            </a:r>
            <a:endParaRPr lang="en-US" sz="3200" dirty="0">
              <a:solidFill>
                <a:srgbClr val="9966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Ta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trích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lợi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ích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ngành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tin</a:t>
            </a:r>
          </a:p>
          <a:p>
            <a:pPr marL="914400" lvl="2" indent="0">
              <a:buFont typeface="Arial" panose="020B0604020202020204" pitchFamily="34" charset="0"/>
              <a:buNone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“Hằng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luôn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tầm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trọng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nó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sống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Các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doanh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nghiệp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nhật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giỏi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Ngành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CNTT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coi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lĩnh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vực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trở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nên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hữu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ích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muốn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nghiệp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ngành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Vậy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lợi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ích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ngành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CNTT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gì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?”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8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941961" y="826851"/>
            <a:ext cx="10411839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sz="3200" dirty="0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sz="3200" dirty="0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minh</a:t>
            </a:r>
            <a:r>
              <a:rPr lang="en-US" sz="3200" dirty="0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chứng</a:t>
            </a:r>
            <a:r>
              <a:rPr lang="en-US" sz="3200" dirty="0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vấn</a:t>
            </a:r>
            <a:r>
              <a:rPr lang="en-US" sz="3200" dirty="0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endParaRPr lang="en-US" sz="3200" dirty="0">
              <a:solidFill>
                <a:srgbClr val="9966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kê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tuyển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2020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 userDrawn="1"/>
        </p:nvGraphicFramePr>
        <p:xfrm>
          <a:off x="1536970" y="1906440"/>
          <a:ext cx="9134274" cy="367918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50800" dir="5400000" sx="91000" sy="91000" algn="ctr" rotWithShape="0">
                    <a:schemeClr val="bg1"/>
                  </a:outerShdw>
                </a:effectLst>
                <a:tableStyleId>{5C22544A-7EE6-4342-B048-85BDC9FD1C3A}</a:tableStyleId>
              </a:tblPr>
              <a:tblGrid>
                <a:gridCol w="6698956"/>
                <a:gridCol w="2435318"/>
              </a:tblGrid>
              <a:tr h="350995">
                <a:tc>
                  <a:txBody>
                    <a:bodyPr/>
                    <a:lstStyle/>
                    <a:p>
                      <a:r>
                        <a:rPr lang="en-US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Tên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ngành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chuyên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ngành</a:t>
                      </a:r>
                      <a:endParaRPr 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Số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lượng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tuyển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sinh</a:t>
                      </a:r>
                      <a:endParaRPr 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50995"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Công </a:t>
                      </a:r>
                      <a:r>
                        <a:rPr lang="en-US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nghệ</a:t>
                      </a: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thông</a:t>
                      </a: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7342"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Công </a:t>
                      </a:r>
                      <a:r>
                        <a:rPr lang="en-US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nghệ</a:t>
                      </a: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thông</a:t>
                      </a: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tin - CLC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50995"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Công </a:t>
                      </a:r>
                      <a:r>
                        <a:rPr lang="en-US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nghệ</a:t>
                      </a: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thông</a:t>
                      </a: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tin – HA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50995">
                <a:tc>
                  <a:txBody>
                    <a:bodyPr/>
                    <a:lstStyle/>
                    <a:p>
                      <a:r>
                        <a:rPr lang="en-US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Mạng</a:t>
                      </a: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máy</a:t>
                      </a: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tính</a:t>
                      </a: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truyền</a:t>
                      </a: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thông</a:t>
                      </a: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dữ</a:t>
                      </a: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liệu</a:t>
                      </a:r>
                      <a:endParaRPr 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50995">
                <a:tc>
                  <a:txBody>
                    <a:bodyPr/>
                    <a:lstStyle/>
                    <a:p>
                      <a:r>
                        <a:rPr lang="en-US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Kỹ</a:t>
                      </a: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thuật</a:t>
                      </a: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phần</a:t>
                      </a: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mềm</a:t>
                      </a: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50995">
                <a:tc>
                  <a:txBody>
                    <a:bodyPr/>
                    <a:lstStyle/>
                    <a:p>
                      <a:r>
                        <a:rPr lang="en-US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Hệ</a:t>
                      </a: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thống</a:t>
                      </a: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thông</a:t>
                      </a: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50995"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Khoa </a:t>
                      </a:r>
                      <a:r>
                        <a:rPr lang="en-US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học</a:t>
                      </a: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máy</a:t>
                      </a: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tính</a:t>
                      </a:r>
                      <a:endParaRPr 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50995"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Tin </a:t>
                      </a:r>
                      <a:r>
                        <a:rPr lang="en-US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học</a:t>
                      </a: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Ứng</a:t>
                      </a: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dụng</a:t>
                      </a:r>
                      <a:endParaRPr 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50995">
                <a:tc>
                  <a:txBody>
                    <a:bodyPr/>
                    <a:lstStyle/>
                    <a:p>
                      <a:r>
                        <a:rPr lang="en-US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Tổng</a:t>
                      </a:r>
                      <a:endParaRPr 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1251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5F68C-27CE-40EC-90A5-851661182030}" type="datetimeFigureOut">
              <a:rPr lang="en-US" smtClean="0"/>
              <a:t>06/02/2026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E4DDE-117C-47EE-A637-8FAB439DA1E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E5F68C-27CE-40EC-90A5-851661182030}" type="datetimeFigureOut">
              <a:rPr lang="en-US" smtClean="0"/>
              <a:t>06/02/2026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E4DDE-117C-47EE-A637-8FAB439DA1E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996633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Times New Roman" panose="02020603050405020304" pitchFamily="18" charset="0"/>
        <a:buChar char="-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ptos" panose="020B0004020202020204" pitchFamily="34" charset="0"/>
        <a:buChar char="+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ü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8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BỐ CỤC MỘT BÀI THUYẾT TRÌNH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ThS. Họ và Tên</a:t>
            </a:r>
          </a:p>
          <a:p>
            <a:endParaRPr lang="en-US"/>
          </a:p>
          <a:p>
            <a:pPr algn="r">
              <a:lnSpc>
                <a:spcPct val="130000"/>
              </a:lnSpc>
            </a:pPr>
            <a:r>
              <a:rPr lang="en-US" sz="2400"/>
              <a:t>Trích từ Tủ sách Khoa học VLOS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</a:t>
            </a:r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blinds/>
      </p:transition>
    </mc:Choice>
    <mc:Fallback xmlns="">
      <p:transition spd="slow">
        <p:blinds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Giới thiệu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3200" dirty="0" err="1">
                <a:sym typeface="+mn-ea"/>
              </a:rPr>
              <a:t>Phần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mở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đầu</a:t>
            </a:r>
            <a:endParaRPr lang="en-US" sz="3200" dirty="0"/>
          </a:p>
          <a:p>
            <a:pPr lvl="1"/>
            <a:r>
              <a:rPr lang="en-US" sz="3200" dirty="0" err="1">
                <a:sym typeface="+mn-ea"/>
              </a:rPr>
              <a:t>Cần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đạt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được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mục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đích</a:t>
            </a:r>
            <a:endParaRPr lang="en-US" sz="3200" dirty="0"/>
          </a:p>
          <a:p>
            <a:pPr lvl="0"/>
            <a:r>
              <a:rPr lang="en-US" sz="3200" dirty="0" err="1">
                <a:sym typeface="+mn-ea"/>
              </a:rPr>
              <a:t>Phần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chính</a:t>
            </a:r>
            <a:endParaRPr lang="en-US" sz="3200" dirty="0"/>
          </a:p>
          <a:p>
            <a:pPr lvl="1"/>
            <a:r>
              <a:rPr lang="en-US" sz="3200" dirty="0" err="1">
                <a:sym typeface="+mn-ea"/>
              </a:rPr>
              <a:t>Đưa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ra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giải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pháp</a:t>
            </a:r>
            <a:r>
              <a:rPr lang="en-US" sz="3200" dirty="0">
                <a:sym typeface="+mn-ea"/>
              </a:rPr>
              <a:t>, ý </a:t>
            </a:r>
            <a:r>
              <a:rPr lang="en-US" sz="3200" dirty="0" err="1">
                <a:sym typeface="+mn-ea"/>
              </a:rPr>
              <a:t>kiến</a:t>
            </a:r>
            <a:endParaRPr lang="en-US" sz="3200" dirty="0"/>
          </a:p>
          <a:p>
            <a:pPr lvl="0"/>
            <a:r>
              <a:rPr lang="en-US" sz="3200" dirty="0" err="1">
                <a:sym typeface="+mn-ea"/>
              </a:rPr>
              <a:t>Phần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kết</a:t>
            </a:r>
            <a:endParaRPr lang="en-US" sz="3200" dirty="0"/>
          </a:p>
          <a:p>
            <a:pPr lvl="1"/>
            <a:r>
              <a:rPr lang="en-US" sz="3200" dirty="0" err="1">
                <a:sym typeface="+mn-ea"/>
              </a:rPr>
              <a:t>Tóm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tắt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các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nội</a:t>
            </a:r>
            <a:r>
              <a:rPr lang="en-US" sz="3200" dirty="0">
                <a:sym typeface="+mn-ea"/>
              </a:rPr>
              <a:t> dung </a:t>
            </a:r>
            <a:r>
              <a:rPr lang="en-US" sz="3200" dirty="0" err="1">
                <a:sym typeface="+mn-ea"/>
              </a:rPr>
              <a:t>đã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được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trình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bày</a:t>
            </a:r>
            <a:endParaRPr lang="en-US" sz="3200" dirty="0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Phần mở đầu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3200" dirty="0">
                <a:sym typeface="+mn-ea"/>
              </a:rPr>
              <a:t>Thu </a:t>
            </a:r>
            <a:r>
              <a:rPr lang="en-US" sz="3200" dirty="0" err="1">
                <a:sym typeface="+mn-ea"/>
              </a:rPr>
              <a:t>hút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sự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chú</a:t>
            </a:r>
            <a:r>
              <a:rPr lang="en-US" sz="3200" dirty="0">
                <a:sym typeface="+mn-ea"/>
              </a:rPr>
              <a:t> ý </a:t>
            </a:r>
            <a:r>
              <a:rPr lang="en-US" sz="3200" dirty="0" err="1">
                <a:sym typeface="+mn-ea"/>
              </a:rPr>
              <a:t>của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người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nghe</a:t>
            </a:r>
            <a:endParaRPr lang="en-US" sz="3200" dirty="0"/>
          </a:p>
          <a:p>
            <a:pPr lvl="1"/>
            <a:r>
              <a:rPr lang="en-US" sz="3200" dirty="0" err="1">
                <a:sym typeface="+mn-ea"/>
                <a:hlinkClick r:id="rId2" action="ppaction://hlinksldjump"/>
              </a:rPr>
              <a:t>Sử</a:t>
            </a:r>
            <a:r>
              <a:rPr lang="en-US" sz="3200" dirty="0">
                <a:sym typeface="+mn-ea"/>
                <a:hlinkClick r:id="rId2" action="ppaction://hlinksldjump"/>
              </a:rPr>
              <a:t> </a:t>
            </a:r>
            <a:r>
              <a:rPr lang="en-US" sz="3200" dirty="0" err="1">
                <a:sym typeface="+mn-ea"/>
                <a:hlinkClick r:id="rId2" action="ppaction://hlinksldjump"/>
              </a:rPr>
              <a:t>dụng</a:t>
            </a:r>
            <a:r>
              <a:rPr lang="en-US" sz="3200" dirty="0">
                <a:sym typeface="+mn-ea"/>
                <a:hlinkClick r:id="rId2" action="ppaction://hlinksldjump"/>
              </a:rPr>
              <a:t> </a:t>
            </a:r>
            <a:r>
              <a:rPr lang="en-US" sz="3200" dirty="0" err="1">
                <a:sym typeface="+mn-ea"/>
                <a:hlinkClick r:id="rId2" action="ppaction://hlinksldjump"/>
              </a:rPr>
              <a:t>một</a:t>
            </a:r>
            <a:r>
              <a:rPr lang="en-US" sz="3200" dirty="0">
                <a:sym typeface="+mn-ea"/>
                <a:hlinkClick r:id="rId2" action="ppaction://hlinksldjump"/>
              </a:rPr>
              <a:t> </a:t>
            </a:r>
            <a:r>
              <a:rPr lang="en-US" sz="3200" dirty="0" err="1">
                <a:sym typeface="+mn-ea"/>
                <a:hlinkClick r:id="rId2" action="ppaction://hlinksldjump"/>
              </a:rPr>
              <a:t>đoạn</a:t>
            </a:r>
            <a:r>
              <a:rPr lang="en-US" sz="3200" dirty="0">
                <a:sym typeface="+mn-ea"/>
                <a:hlinkClick r:id="rId2" action="ppaction://hlinksldjump"/>
              </a:rPr>
              <a:t> </a:t>
            </a:r>
            <a:r>
              <a:rPr lang="en-US" sz="3200" dirty="0" err="1">
                <a:sym typeface="+mn-ea"/>
                <a:hlinkClick r:id="rId2" action="ppaction://hlinksldjump"/>
              </a:rPr>
              <a:t>trích</a:t>
            </a:r>
            <a:r>
              <a:rPr lang="en-US" sz="3200" dirty="0">
                <a:sym typeface="+mn-ea"/>
                <a:hlinkClick r:id="rId2" action="ppaction://hlinksldjump"/>
              </a:rPr>
              <a:t> </a:t>
            </a:r>
            <a:r>
              <a:rPr lang="en-US" sz="3200" dirty="0" err="1">
                <a:sym typeface="+mn-ea"/>
                <a:hlinkClick r:id="rId2" action="ppaction://hlinksldjump"/>
              </a:rPr>
              <a:t>dẫn</a:t>
            </a:r>
            <a:endParaRPr lang="en-US" sz="3200" dirty="0"/>
          </a:p>
          <a:p>
            <a:pPr lvl="1"/>
            <a:r>
              <a:rPr lang="en-US" sz="3200" dirty="0" err="1">
                <a:sym typeface="+mn-ea"/>
              </a:rPr>
              <a:t>Một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câu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hỏi</a:t>
            </a:r>
            <a:endParaRPr lang="en-US" sz="3200" dirty="0"/>
          </a:p>
          <a:p>
            <a:pPr lvl="1"/>
            <a:r>
              <a:rPr lang="en-US" sz="3200" dirty="0" err="1">
                <a:sym typeface="+mn-ea"/>
              </a:rPr>
              <a:t>Một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lời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hứa</a:t>
            </a:r>
            <a:endParaRPr lang="en-US" sz="3200" dirty="0"/>
          </a:p>
          <a:p>
            <a:pPr lvl="1"/>
            <a:r>
              <a:rPr lang="en-US" sz="3200" dirty="0" err="1">
                <a:sym typeface="+mn-ea"/>
              </a:rPr>
              <a:t>Thậm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chí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làm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mọi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người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phải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hoạt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động</a:t>
            </a:r>
            <a:endParaRPr lang="en-US" sz="3200" dirty="0"/>
          </a:p>
          <a:p>
            <a:pPr lvl="0"/>
            <a:r>
              <a:rPr lang="en-US" sz="3200" dirty="0" err="1">
                <a:sym typeface="+mn-ea"/>
              </a:rPr>
              <a:t>Tóm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lược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các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nội</a:t>
            </a:r>
            <a:r>
              <a:rPr lang="en-US" sz="3200" dirty="0">
                <a:sym typeface="+mn-ea"/>
              </a:rPr>
              <a:t> dung </a:t>
            </a:r>
            <a:r>
              <a:rPr lang="en-US" sz="3200" dirty="0" err="1">
                <a:sym typeface="+mn-ea"/>
              </a:rPr>
              <a:t>liên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quan</a:t>
            </a:r>
            <a:endParaRPr lang="en-US" sz="3200" dirty="0"/>
          </a:p>
          <a:p>
            <a:pPr lvl="1"/>
            <a:r>
              <a:rPr lang="en-US" sz="3200" dirty="0" err="1">
                <a:sym typeface="+mn-ea"/>
              </a:rPr>
              <a:t>Đã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được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trình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bày</a:t>
            </a:r>
            <a:endParaRPr lang="en-US" sz="3200" dirty="0"/>
          </a:p>
          <a:p>
            <a:pPr lvl="1"/>
            <a:r>
              <a:rPr lang="en-US" sz="3200" dirty="0" err="1">
                <a:sym typeface="+mn-ea"/>
              </a:rPr>
              <a:t>Được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đa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số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người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nghe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biết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rõ</a:t>
            </a:r>
            <a:endParaRPr lang="en-US" sz="3200" dirty="0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ipe dir="r"/>
      </p:transition>
    </mc:Choice>
    <mc:Fallback xmlns="">
      <p:transition spd="slow"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Phần chính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3200" dirty="0" err="1">
                <a:sym typeface="+mn-ea"/>
              </a:rPr>
              <a:t>Phần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chính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với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các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nội</a:t>
            </a:r>
            <a:r>
              <a:rPr lang="en-US" sz="3200" dirty="0">
                <a:sym typeface="+mn-ea"/>
              </a:rPr>
              <a:t> dung</a:t>
            </a:r>
            <a:endParaRPr lang="en-US" sz="3200" dirty="0"/>
          </a:p>
          <a:p>
            <a:pPr lvl="1"/>
            <a:r>
              <a:rPr lang="en-US" sz="3200" dirty="0" err="1">
                <a:sym typeface="+mn-ea"/>
              </a:rPr>
              <a:t>Vấn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đề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cần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giải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quyết</a:t>
            </a:r>
            <a:r>
              <a:rPr lang="en-US" sz="3200" dirty="0">
                <a:sym typeface="+mn-ea"/>
              </a:rPr>
              <a:t>, </a:t>
            </a:r>
            <a:r>
              <a:rPr lang="en-US" sz="3200" dirty="0" err="1">
                <a:sym typeface="+mn-ea"/>
              </a:rPr>
              <a:t>yêu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cầu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công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việc</a:t>
            </a:r>
            <a:endParaRPr lang="en-US" sz="3200" dirty="0"/>
          </a:p>
          <a:p>
            <a:pPr lvl="1"/>
            <a:r>
              <a:rPr lang="en-US" sz="3200" dirty="0">
                <a:sym typeface="+mn-ea"/>
              </a:rPr>
              <a:t>Ý </a:t>
            </a:r>
            <a:r>
              <a:rPr lang="en-US" sz="3200" dirty="0" err="1">
                <a:sym typeface="+mn-ea"/>
              </a:rPr>
              <a:t>tưởng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và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giải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pháp</a:t>
            </a:r>
            <a:endParaRPr lang="en-US" sz="3200" dirty="0"/>
          </a:p>
          <a:p>
            <a:pPr lvl="1"/>
            <a:r>
              <a:rPr lang="en-US" sz="3200" dirty="0">
                <a:sym typeface="+mn-ea"/>
                <a:hlinkClick r:id="rId2" action="ppaction://hlinksldjump"/>
              </a:rPr>
              <a:t>Cung </a:t>
            </a:r>
            <a:r>
              <a:rPr lang="en-US" sz="3200" dirty="0" err="1">
                <a:sym typeface="+mn-ea"/>
                <a:hlinkClick r:id="rId2" action="ppaction://hlinksldjump"/>
              </a:rPr>
              <a:t>cấp</a:t>
            </a:r>
            <a:r>
              <a:rPr lang="en-US" sz="3200" dirty="0">
                <a:sym typeface="+mn-ea"/>
                <a:hlinkClick r:id="rId2" action="ppaction://hlinksldjump"/>
              </a:rPr>
              <a:t> </a:t>
            </a:r>
            <a:r>
              <a:rPr lang="en-US" sz="3200" dirty="0" err="1">
                <a:sym typeface="+mn-ea"/>
                <a:hlinkClick r:id="rId2" action="ppaction://hlinksldjump"/>
              </a:rPr>
              <a:t>ví</a:t>
            </a:r>
            <a:r>
              <a:rPr lang="en-US" sz="3200" dirty="0">
                <a:sym typeface="+mn-ea"/>
                <a:hlinkClick r:id="rId2" action="ppaction://hlinksldjump"/>
              </a:rPr>
              <a:t> </a:t>
            </a:r>
            <a:r>
              <a:rPr lang="en-US" sz="3200" dirty="0" err="1">
                <a:sym typeface="+mn-ea"/>
                <a:hlinkClick r:id="rId2" action="ppaction://hlinksldjump"/>
              </a:rPr>
              <a:t>dụ</a:t>
            </a:r>
            <a:r>
              <a:rPr lang="en-US" sz="3200" dirty="0">
                <a:sym typeface="+mn-ea"/>
                <a:hlinkClick r:id="rId2" action="ppaction://hlinksldjump"/>
              </a:rPr>
              <a:t> </a:t>
            </a:r>
            <a:r>
              <a:rPr lang="en-US" sz="3200" dirty="0" err="1">
                <a:sym typeface="+mn-ea"/>
                <a:hlinkClick r:id="rId2" action="ppaction://hlinksldjump"/>
              </a:rPr>
              <a:t>để</a:t>
            </a:r>
            <a:r>
              <a:rPr lang="en-US" sz="3200" dirty="0">
                <a:sym typeface="+mn-ea"/>
                <a:hlinkClick r:id="rId2" action="ppaction://hlinksldjump"/>
              </a:rPr>
              <a:t> </a:t>
            </a:r>
            <a:r>
              <a:rPr lang="en-US" sz="3200" dirty="0" err="1">
                <a:sym typeface="+mn-ea"/>
                <a:hlinkClick r:id="rId2" action="ppaction://hlinksldjump"/>
              </a:rPr>
              <a:t>chứng</a:t>
            </a:r>
            <a:r>
              <a:rPr lang="en-US" sz="3200" dirty="0">
                <a:sym typeface="+mn-ea"/>
                <a:hlinkClick r:id="rId2" action="ppaction://hlinksldjump"/>
              </a:rPr>
              <a:t> </a:t>
            </a:r>
            <a:r>
              <a:rPr lang="en-US" sz="3200" dirty="0" err="1">
                <a:sym typeface="+mn-ea"/>
                <a:hlinkClick r:id="rId2" action="ppaction://hlinksldjump"/>
              </a:rPr>
              <a:t>minh</a:t>
            </a:r>
            <a:endParaRPr lang="en-US" sz="3200" dirty="0"/>
          </a:p>
          <a:p>
            <a:pPr lvl="1"/>
            <a:r>
              <a:rPr lang="en-US" sz="3200" dirty="0">
                <a:sym typeface="+mn-ea"/>
              </a:rPr>
              <a:t>Lợi </a:t>
            </a:r>
            <a:r>
              <a:rPr lang="en-US" sz="3200" dirty="0" err="1">
                <a:sym typeface="+mn-ea"/>
              </a:rPr>
              <a:t>ích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khi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áp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dụng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giải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pháp</a:t>
            </a:r>
            <a:endParaRPr lang="en-US" sz="3200" dirty="0"/>
          </a:p>
          <a:p>
            <a:pPr lvl="1"/>
            <a:r>
              <a:rPr lang="en-US" sz="3200" dirty="0" err="1">
                <a:sym typeface="+mn-ea"/>
              </a:rPr>
              <a:t>Chương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trình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hành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động</a:t>
            </a:r>
            <a:r>
              <a:rPr lang="en-US" sz="3200" dirty="0">
                <a:sym typeface="+mn-ea"/>
              </a:rPr>
              <a:t>/</a:t>
            </a:r>
            <a:r>
              <a:rPr lang="en-US" sz="3200" dirty="0" err="1">
                <a:sym typeface="+mn-ea"/>
              </a:rPr>
              <a:t>các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việc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làm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cụ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thể</a:t>
            </a:r>
            <a:endParaRPr lang="en-US" sz="3200" dirty="0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cover dir="u"/>
      </p:transition>
    </mc:Choice>
    <mc:Fallback xmlns="">
      <p:transition spd="slow">
        <p:cover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Phần kết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3200" dirty="0" err="1">
                <a:sym typeface="+mn-ea"/>
              </a:rPr>
              <a:t>Tóm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tắt</a:t>
            </a:r>
            <a:endParaRPr lang="en-US" sz="3200" dirty="0"/>
          </a:p>
          <a:p>
            <a:pPr lvl="0"/>
            <a:r>
              <a:rPr lang="en-US" sz="3200" dirty="0" err="1">
                <a:sym typeface="+mn-ea"/>
              </a:rPr>
              <a:t>Kết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luận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cuối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cùng</a:t>
            </a:r>
            <a:endParaRPr lang="en-US" sz="3200" dirty="0"/>
          </a:p>
          <a:p>
            <a:pPr lvl="1"/>
            <a:r>
              <a:rPr lang="en-US" sz="3200" dirty="0">
                <a:sym typeface="+mn-ea"/>
              </a:rPr>
              <a:t>Liệu </a:t>
            </a:r>
            <a:r>
              <a:rPr lang="en-US" sz="3200" dirty="0" err="1">
                <a:sym typeface="+mn-ea"/>
              </a:rPr>
              <a:t>còn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điều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gì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bạn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muốn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người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nghe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ghi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nhớ</a:t>
            </a:r>
            <a:r>
              <a:rPr lang="en-US" sz="3200" dirty="0">
                <a:sym typeface="+mn-ea"/>
              </a:rPr>
              <a:t>?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5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split orient="vert" dir="in"/>
      </p:transition>
    </mc:Choice>
    <mc:Fallback xmlns="">
      <p:transition spd="slow">
        <p:split orient="vert" dir="in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Cảm ơn sự chú ý của quý vị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6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641985"/>
            <a:ext cx="10515600" cy="1057910"/>
          </a:xfrm>
        </p:spPr>
        <p:txBody>
          <a:bodyPr/>
          <a:lstStyle/>
          <a:p>
            <a:r>
              <a:rPr lang="en-US" sz="3200" dirty="0" err="1">
                <a:sym typeface="+mn-ea"/>
              </a:rPr>
              <a:t>Ví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dụ</a:t>
            </a:r>
            <a:r>
              <a:rPr lang="en-US" sz="3200" dirty="0">
                <a:sym typeface="+mn-ea"/>
              </a:rPr>
              <a:t>: </a:t>
            </a:r>
            <a:r>
              <a:rPr lang="en-US" sz="3200" dirty="0" err="1">
                <a:sym typeface="+mn-ea"/>
              </a:rPr>
              <a:t>Sử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dụng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một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đoạn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trích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dẫn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khi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giới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thiệu</a:t>
            </a:r>
            <a:endParaRPr lang="en-US" sz="320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838200" y="1423035"/>
            <a:ext cx="10515600" cy="4351338"/>
          </a:xfrm>
        </p:spPr>
        <p:txBody>
          <a:bodyPr>
            <a:norm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Ví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dụ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: Ta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có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thể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phát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biểu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trích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dẫn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lợi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ích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khi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học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ngành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công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nghệ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thông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tin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0">
              <a:buFont typeface="Arial" panose="020B0604020202020204" pitchFamily="34" charset="0"/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“Hằng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năm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công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nghệ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mới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luôn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được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phát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triển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thể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hiện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tầm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quan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trọng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của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nó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đối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với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cuộc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sống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 Các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doanh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nghiệp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cũng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thay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đổi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hướng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cập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nhật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công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nghệ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thông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tin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yêu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cầu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sự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thay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đổi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về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nhân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sự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giỏi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công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nghệ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Ngành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học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CNTT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được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lĩnh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vực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ngày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một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phát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triển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trở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nên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hữu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ích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cho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các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bạn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muốn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xây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dựng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sự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nghiệp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với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ngành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này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Vậy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những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lợi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ích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khi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học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ngành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CNTT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gì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?”</a:t>
            </a:r>
            <a:endParaRPr lang="en-US" sz="2800"/>
          </a:p>
        </p:txBody>
      </p:sp>
      <p:sp>
        <p:nvSpPr>
          <p:cNvPr id="6" name="Curved Up Arrow 5">
            <a:hlinkClick r:id="rId2" action="ppaction://hlinksldjump"/>
          </p:cNvPr>
          <p:cNvSpPr/>
          <p:nvPr/>
        </p:nvSpPr>
        <p:spPr>
          <a:xfrm>
            <a:off x="5628640" y="5598160"/>
            <a:ext cx="1050925" cy="662940"/>
          </a:xfrm>
          <a:prstGeom prst="curved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E4DDE-117C-47EE-A637-8FAB439DA1EE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rved Up Arrow 3">
            <a:hlinkClick r:id="rId2" action="ppaction://hlinksldjump"/>
          </p:cNvPr>
          <p:cNvSpPr/>
          <p:nvPr/>
        </p:nvSpPr>
        <p:spPr>
          <a:xfrm>
            <a:off x="8127365" y="929640"/>
            <a:ext cx="1156335" cy="657860"/>
          </a:xfrm>
          <a:prstGeom prst="curved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8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299</Words>
  <Application>Microsoft Office PowerPoint</Application>
  <PresentationFormat>Widescreen</PresentationFormat>
  <Paragraphs>43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Arial</vt:lpstr>
      <vt:lpstr>Calibri</vt:lpstr>
      <vt:lpstr>Times New Roman</vt:lpstr>
      <vt:lpstr>Wingdings</vt:lpstr>
      <vt:lpstr>Office Theme</vt:lpstr>
      <vt:lpstr>BỐ CỤC MỘT BÀI THUYẾT TRÌNH</vt:lpstr>
      <vt:lpstr>Giới thiệu</vt:lpstr>
      <vt:lpstr>Phần mở đầu</vt:lpstr>
      <vt:lpstr>Phần chính</vt:lpstr>
      <vt:lpstr>Phần kết</vt:lpstr>
      <vt:lpstr>Cảm ơn sự chú ý của quý vị</vt:lpstr>
      <vt:lpstr>Ví dụ: Sử dụng một đoạn trích dẫn khi giới thiệu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BỐ CỤC MỘT BÀI THUYẾT TRÌNH</dc:title>
  <dc:creator>hoangngoccham1827@gmail.com</dc:creator>
  <cp:lastModifiedBy>Windows User</cp:lastModifiedBy>
  <cp:revision>3</cp:revision>
  <dcterms:created xsi:type="dcterms:W3CDTF">2026-02-05T13:17:00Z</dcterms:created>
  <dcterms:modified xsi:type="dcterms:W3CDTF">2026-02-06T00:15:12Z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632F24ACE2D34635B68A7CF926FB026B_13</vt:lpwstr>
  </property>
  <property fmtid="{D5CDD505-2E9C-101B-9397-08002B2CF9AE}" pid="3" name="KSOProductBuildVer">
    <vt:lpwstr>1033-12.2.0.23196</vt:lpwstr>
  </property>
</Properties>
</file>